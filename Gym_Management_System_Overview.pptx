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2360" y="685800"/>
            <a:ext cx="34747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9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16952" y="886968"/>
            <a:ext cx="210312" cy="210312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828800"/>
            <a:ext cx="292608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1B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57031" y="2029968"/>
            <a:ext cx="210312" cy="210312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95160" y="2788920"/>
            <a:ext cx="3749039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0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59752" y="2990088"/>
            <a:ext cx="210312" cy="210312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3931920"/>
            <a:ext cx="32918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91271" y="4133087"/>
            <a:ext cx="210312" cy="210312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024128"/>
            <a:ext cx="6217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Gym Management System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87168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8F1"/>
                </a:solidFill>
                <a:latin typeface="Aptos"/>
              </a:defRPr>
            </a:pPr>
            <a:r>
              <a:t>Short presentation: workflow, tech stack, database design, and functional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703320"/>
            <a:ext cx="3520440" cy="384048"/>
          </a:xfrm>
          <a:prstGeom prst="roundRect">
            <a:avLst/>
          </a:prstGeom>
          <a:solidFill>
            <a:srgbClr val="22364E"/>
          </a:solidFill>
          <a:ln>
            <a:solidFill>
              <a:srgbClr val="4E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785615"/>
            <a:ext cx="3154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Next.js Admin Dashboard + Mobile Member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9180"/>
                </a:solidFill>
                <a:latin typeface="Aptos"/>
              </a:defRPr>
            </a:pPr>
            <a:r>
              <a:t>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639"/>
                </a:solidFill>
                <a:latin typeface="Aptos"/>
              </a:defRPr>
            </a:pPr>
            <a:r>
              <a:t>1.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7080"/>
                </a:solidFill>
                <a:latin typeface="Aptos"/>
              </a:defRPr>
            </a:pPr>
            <a:r>
              <a:t>Gym Management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73152" cy="749808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91056"/>
            <a:ext cx="1536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Admin / Staff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Login with NextAuth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Role permission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481328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481328"/>
            <a:ext cx="73152" cy="749808"/>
          </a:xfrm>
          <a:prstGeom prst="rect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591056"/>
            <a:ext cx="1673351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Admin Dashboard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CRUD operations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Reports and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481328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481328"/>
            <a:ext cx="73152" cy="749808"/>
          </a:xfrm>
          <a:prstGeom prst="rect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1591056"/>
            <a:ext cx="1673351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API Routes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/api/v1/*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/api/mobile/*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481328"/>
            <a:ext cx="187451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481328"/>
            <a:ext cx="73152" cy="749808"/>
          </a:xfrm>
          <a:prstGeom prst="rect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1591056"/>
            <a:ext cx="1581911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Business Logic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Validation, Prisma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Payments, email, push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481328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21240" y="1481328"/>
            <a:ext cx="73152" cy="749808"/>
          </a:xfrm>
          <a:prstGeom prst="rect">
            <a:avLst/>
          </a:prstGeom>
          <a:solidFill>
            <a:srgbClr val="7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1591056"/>
            <a:ext cx="13075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PostgreSQL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Persistent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23744" y="1856232"/>
            <a:ext cx="347472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10328" y="1856232"/>
            <a:ext cx="356616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06055" y="1856232"/>
            <a:ext cx="338329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92055" y="1856232"/>
            <a:ext cx="292609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2999232"/>
            <a:ext cx="1828800" cy="713232"/>
          </a:xfrm>
          <a:prstGeom prst="roundRect">
            <a:avLst/>
          </a:prstGeom>
          <a:solidFill>
            <a:srgbClr val="189180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2999232"/>
            <a:ext cx="73152" cy="713232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10896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Mobile Member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Token login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Own 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7792" y="2999232"/>
            <a:ext cx="1965960" cy="713232"/>
          </a:xfrm>
          <a:prstGeom prst="roundRect">
            <a:avLst/>
          </a:prstGeom>
          <a:solidFill>
            <a:srgbClr val="3A7EC4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07792" y="2999232"/>
            <a:ext cx="73152" cy="713232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72384" y="3108960"/>
            <a:ext cx="16733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Member APIs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Plans, payments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Subscriptions,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2999232"/>
            <a:ext cx="1965960" cy="713232"/>
          </a:xfrm>
          <a:prstGeom prst="roundRect">
            <a:avLst/>
          </a:prstGeom>
          <a:solidFill>
            <a:srgbClr val="E05F4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2999232"/>
            <a:ext cx="73152" cy="713232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8112" y="3108960"/>
            <a:ext cx="16733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Service Layer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Mobile auth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Waafi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999232"/>
            <a:ext cx="1874519" cy="713232"/>
          </a:xfrm>
          <a:prstGeom prst="roundRect">
            <a:avLst/>
          </a:prstGeom>
          <a:solidFill>
            <a:srgbClr val="F1B248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0" y="2999232"/>
            <a:ext cx="73152" cy="713232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108960"/>
            <a:ext cx="15819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2639"/>
                </a:solidFill>
                <a:latin typeface="Aptos"/>
              </a:defRPr>
            </a:pPr>
            <a:r>
              <a:t>External Services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WaafiPay, SMTP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Firebase FCM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23744" y="3355848"/>
            <a:ext cx="347472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10328" y="3355848"/>
            <a:ext cx="356616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06056" y="3355848"/>
            <a:ext cx="338327" cy="0"/>
          </a:xfrm>
          <a:prstGeom prst="line">
            <a:avLst/>
          </a:prstGeom>
          <a:ln w="1905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95344" y="2231136"/>
            <a:ext cx="2359152" cy="768096"/>
          </a:xfrm>
          <a:prstGeom prst="line">
            <a:avLst/>
          </a:prstGeom>
          <a:ln w="19050">
            <a:solidFill>
              <a:srgbClr val="3A7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613648" y="2231136"/>
            <a:ext cx="0" cy="768096"/>
          </a:xfrm>
          <a:prstGeom prst="line">
            <a:avLst/>
          </a:prstGeom>
          <a:ln w="19050">
            <a:solidFill>
              <a:srgbClr val="F1B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22960" y="4663440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" y="4590288"/>
            <a:ext cx="10378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42D3A"/>
                </a:solidFill>
                <a:latin typeface="Aptos"/>
              </a:defRPr>
            </a:pPr>
            <a:r>
              <a:t>Create data: Admin creates members, trainers, plans, subscriptions, attendance, and payments.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" y="5001768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" y="4928616"/>
            <a:ext cx="10378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42D3A"/>
                </a:solidFill>
                <a:latin typeface="Aptos"/>
              </a:defRPr>
            </a:pPr>
            <a:r>
              <a:t>Secure access: Pages and APIs check authentication plus role/permission rules before actions.</a:t>
            </a:r>
          </a:p>
        </p:txBody>
      </p:sp>
      <p:sp>
        <p:nvSpPr>
          <p:cNvPr id="47" name="Oval 46"/>
          <p:cNvSpPr/>
          <p:nvPr/>
        </p:nvSpPr>
        <p:spPr>
          <a:xfrm>
            <a:off x="822960" y="5340096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266944"/>
            <a:ext cx="10378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42D3A"/>
                </a:solidFill>
                <a:latin typeface="Aptos"/>
              </a:defRPr>
            </a:pPr>
            <a:r>
              <a:t>Payment flow: Manual payments or WaafiPay online attempts update payment and subscription state.</a:t>
            </a:r>
          </a:p>
        </p:txBody>
      </p:sp>
      <p:sp>
        <p:nvSpPr>
          <p:cNvPr id="49" name="Oval 48"/>
          <p:cNvSpPr/>
          <p:nvPr/>
        </p:nvSpPr>
        <p:spPr>
          <a:xfrm>
            <a:off x="822960" y="5678424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" y="5605272"/>
            <a:ext cx="10378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42D3A"/>
                </a:solidFill>
                <a:latin typeface="Aptos"/>
              </a:defRPr>
            </a:pPr>
            <a:r>
              <a:t>Communication: Email credentials, push notifications, and reports keep members and admins informed.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9180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639"/>
                </a:solidFill>
                <a:latin typeface="Aptos"/>
              </a:defRPr>
            </a:pPr>
            <a:r>
              <a:t>2.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7080"/>
                </a:solidFill>
                <a:latin typeface="Aptos"/>
              </a:defRPr>
            </a:pPr>
            <a:r>
              <a:t>Gym Management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420624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27048"/>
            <a:ext cx="2221992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639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984248"/>
            <a:ext cx="82296" cy="82296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01952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Next.js 16 App Router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496312"/>
            <a:ext cx="82296" cy="82296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14016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React 19 + TypeScript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08376"/>
            <a:ext cx="82296" cy="82296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Tailwind CSS 4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20440"/>
            <a:ext cx="82296" cy="82296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3814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Radix / shadcn-style UI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32504"/>
            <a:ext cx="82296" cy="82296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5020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SWR, Recharts, Sonner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14173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296" y="1417320"/>
            <a:ext cx="73152" cy="4206240"/>
          </a:xfrm>
          <a:prstGeom prst="rect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1527048"/>
            <a:ext cx="2221992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639"/>
                </a:solidFill>
                <a:latin typeface="Aptos"/>
              </a:defRPr>
            </a:pPr>
            <a:r>
              <a:t>Backend &amp; API</a:t>
            </a:r>
          </a:p>
        </p:txBody>
      </p:sp>
      <p:sp>
        <p:nvSpPr>
          <p:cNvPr id="23" name="Oval 22"/>
          <p:cNvSpPr/>
          <p:nvPr/>
        </p:nvSpPr>
        <p:spPr>
          <a:xfrm>
            <a:off x="3767328" y="1984248"/>
            <a:ext cx="82296" cy="82296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1901952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Next.js Route Handlers</a:t>
            </a:r>
          </a:p>
        </p:txBody>
      </p:sp>
      <p:sp>
        <p:nvSpPr>
          <p:cNvPr id="25" name="Oval 24"/>
          <p:cNvSpPr/>
          <p:nvPr/>
        </p:nvSpPr>
        <p:spPr>
          <a:xfrm>
            <a:off x="3767328" y="2496312"/>
            <a:ext cx="82296" cy="82296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2414016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NextAuth credentials auth</a:t>
            </a:r>
          </a:p>
        </p:txBody>
      </p:sp>
      <p:sp>
        <p:nvSpPr>
          <p:cNvPr id="27" name="Oval 26"/>
          <p:cNvSpPr/>
          <p:nvPr/>
        </p:nvSpPr>
        <p:spPr>
          <a:xfrm>
            <a:off x="3767328" y="3008376"/>
            <a:ext cx="82296" cy="82296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8" y="292608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Prisma ORM</a:t>
            </a:r>
          </a:p>
        </p:txBody>
      </p:sp>
      <p:sp>
        <p:nvSpPr>
          <p:cNvPr id="29" name="Oval 28"/>
          <p:cNvSpPr/>
          <p:nvPr/>
        </p:nvSpPr>
        <p:spPr>
          <a:xfrm>
            <a:off x="3767328" y="3520440"/>
            <a:ext cx="82296" cy="82296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343814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Zod validation</a:t>
            </a:r>
          </a:p>
        </p:txBody>
      </p:sp>
      <p:sp>
        <p:nvSpPr>
          <p:cNvPr id="31" name="Oval 30"/>
          <p:cNvSpPr/>
          <p:nvPr/>
        </p:nvSpPr>
        <p:spPr>
          <a:xfrm>
            <a:off x="3767328" y="4032504"/>
            <a:ext cx="82296" cy="82296"/>
          </a:xfrm>
          <a:prstGeom prst="ellipse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8" y="395020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React Hook 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4" y="14173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4224" y="1417320"/>
            <a:ext cx="73152" cy="4206240"/>
          </a:xfrm>
          <a:prstGeom prst="rect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1527048"/>
            <a:ext cx="2221992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639"/>
                </a:solidFill>
                <a:latin typeface="Aptos"/>
              </a:defRPr>
            </a:pPr>
            <a:r>
              <a:t>Data &amp; Services</a:t>
            </a:r>
          </a:p>
        </p:txBody>
      </p:sp>
      <p:sp>
        <p:nvSpPr>
          <p:cNvPr id="36" name="Oval 35"/>
          <p:cNvSpPr/>
          <p:nvPr/>
        </p:nvSpPr>
        <p:spPr>
          <a:xfrm>
            <a:off x="6620256" y="1984248"/>
            <a:ext cx="82296" cy="82296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3136" y="1901952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PostgreSQL database</a:t>
            </a:r>
          </a:p>
        </p:txBody>
      </p:sp>
      <p:sp>
        <p:nvSpPr>
          <p:cNvPr id="38" name="Oval 37"/>
          <p:cNvSpPr/>
          <p:nvPr/>
        </p:nvSpPr>
        <p:spPr>
          <a:xfrm>
            <a:off x="6620256" y="2496312"/>
            <a:ext cx="82296" cy="82296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2414016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Firebase Admin / FCM</a:t>
            </a:r>
          </a:p>
        </p:txBody>
      </p:sp>
      <p:sp>
        <p:nvSpPr>
          <p:cNvPr id="40" name="Oval 39"/>
          <p:cNvSpPr/>
          <p:nvPr/>
        </p:nvSpPr>
        <p:spPr>
          <a:xfrm>
            <a:off x="6620256" y="3008376"/>
            <a:ext cx="82296" cy="82296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292608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Nodemailer SMTP email</a:t>
            </a:r>
          </a:p>
        </p:txBody>
      </p:sp>
      <p:sp>
        <p:nvSpPr>
          <p:cNvPr id="42" name="Oval 41"/>
          <p:cNvSpPr/>
          <p:nvPr/>
        </p:nvSpPr>
        <p:spPr>
          <a:xfrm>
            <a:off x="6620256" y="3520440"/>
            <a:ext cx="82296" cy="82296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3136" y="343814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WaafiPay integration</a:t>
            </a:r>
          </a:p>
        </p:txBody>
      </p:sp>
      <p:sp>
        <p:nvSpPr>
          <p:cNvPr id="44" name="Oval 43"/>
          <p:cNvSpPr/>
          <p:nvPr/>
        </p:nvSpPr>
        <p:spPr>
          <a:xfrm>
            <a:off x="6620256" y="4032504"/>
            <a:ext cx="82296" cy="82296"/>
          </a:xfrm>
          <a:prstGeom prst="ellipse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03136" y="395020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Local image uploads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7152" y="14173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17152" y="1417320"/>
            <a:ext cx="73152" cy="4206240"/>
          </a:xfrm>
          <a:prstGeom prst="rect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81744" y="1527048"/>
            <a:ext cx="2221992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639"/>
                </a:solidFill>
                <a:latin typeface="Aptos"/>
              </a:defRPr>
            </a:pPr>
            <a:r>
              <a:t>Dev &amp; Runtime</a:t>
            </a:r>
          </a:p>
        </p:txBody>
      </p:sp>
      <p:sp>
        <p:nvSpPr>
          <p:cNvPr id="49" name="Oval 48"/>
          <p:cNvSpPr/>
          <p:nvPr/>
        </p:nvSpPr>
        <p:spPr>
          <a:xfrm>
            <a:off x="9473184" y="1984248"/>
            <a:ext cx="82296" cy="82296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56064" y="1901952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Node.js 20+</a:t>
            </a:r>
          </a:p>
        </p:txBody>
      </p:sp>
      <p:sp>
        <p:nvSpPr>
          <p:cNvPr id="51" name="Oval 50"/>
          <p:cNvSpPr/>
          <p:nvPr/>
        </p:nvSpPr>
        <p:spPr>
          <a:xfrm>
            <a:off x="9473184" y="2496312"/>
            <a:ext cx="82296" cy="82296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56064" y="2414016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Docker / docker-compose</a:t>
            </a:r>
          </a:p>
        </p:txBody>
      </p:sp>
      <p:sp>
        <p:nvSpPr>
          <p:cNvPr id="53" name="Oval 52"/>
          <p:cNvSpPr/>
          <p:nvPr/>
        </p:nvSpPr>
        <p:spPr>
          <a:xfrm>
            <a:off x="9473184" y="3008376"/>
            <a:ext cx="82296" cy="82296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6064" y="292608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Prisma generate + db push</a:t>
            </a:r>
          </a:p>
        </p:txBody>
      </p:sp>
      <p:sp>
        <p:nvSpPr>
          <p:cNvPr id="55" name="Oval 54"/>
          <p:cNvSpPr/>
          <p:nvPr/>
        </p:nvSpPr>
        <p:spPr>
          <a:xfrm>
            <a:off x="9473184" y="3520440"/>
            <a:ext cx="82296" cy="82296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56064" y="343814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TypeScript config</a:t>
            </a:r>
          </a:p>
        </p:txBody>
      </p:sp>
      <p:sp>
        <p:nvSpPr>
          <p:cNvPr id="57" name="Oval 56"/>
          <p:cNvSpPr/>
          <p:nvPr/>
        </p:nvSpPr>
        <p:spPr>
          <a:xfrm>
            <a:off x="9473184" y="4032504"/>
            <a:ext cx="82296" cy="82296"/>
          </a:xfrm>
          <a:prstGeom prst="ellipse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56064" y="395020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42D3A"/>
                </a:solidFill>
                <a:latin typeface="Aptos"/>
              </a:defRPr>
            </a:pPr>
            <a:r>
              <a:t>Production Next build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" y="5897880"/>
            <a:ext cx="10652760" cy="384048"/>
          </a:xfrm>
          <a:prstGeom prst="roundRect">
            <a:avLst/>
          </a:prstGeom>
          <a:solidFill>
            <a:srgbClr val="E9F6F3"/>
          </a:solidFill>
          <a:ln>
            <a:solidFill>
              <a:srgbClr val="BE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5980176"/>
            <a:ext cx="10241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2639"/>
                </a:solidFill>
                <a:latin typeface="Aptos"/>
              </a:defRPr>
            </a:pPr>
            <a:r>
              <a:t>The stack supports protected admin workflows, mobile member APIs, online payments, notifications, and reporting from one codebase.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9180"/>
                </a:solidFill>
                <a:latin typeface="Aptos"/>
              </a:defRPr>
            </a:pPr>
            <a:r>
              <a:t>PRISMA +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639"/>
                </a:solidFill>
                <a:latin typeface="Aptos"/>
              </a:defRPr>
            </a:pPr>
            <a:r>
              <a:t>3.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7080"/>
                </a:solidFill>
                <a:latin typeface="Aptos"/>
              </a:defRPr>
            </a:pPr>
            <a:r>
              <a:t>Gym Management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43584"/>
            <a:ext cx="3291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43584"/>
            <a:ext cx="73152" cy="4526280"/>
          </a:xfrm>
          <a:prstGeom prst="rect">
            <a:avLst/>
          </a:prstGeom>
          <a:solidFill>
            <a:srgbClr val="7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53312"/>
            <a:ext cx="2999232" cy="436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639"/>
                </a:solidFill>
                <a:latin typeface="Aptos"/>
              </a:defRPr>
            </a:pPr>
            <a:r>
              <a:t>Access Control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AccessUser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AccessRole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AccessPermission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AccessUserRole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AccessRolePermission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AccessActivityLog</a:t>
            </a:r>
          </a:p>
          <a:p>
            <a:pPr>
              <a:spcBef>
                <a:spcPts val="400"/>
              </a:spcBef>
              <a:defRPr sz="1019">
                <a:solidFill>
                  <a:srgbClr val="242D3A"/>
                </a:solidFill>
                <a:latin typeface="Aptos"/>
              </a:defRPr>
            </a:pPr>
            <a:r>
              <a:t>AccessControlSettings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078992"/>
            <a:ext cx="3611880" cy="4882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078992"/>
            <a:ext cx="73152" cy="4882896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19"/>
            <a:ext cx="3319272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639"/>
                </a:solidFill>
                <a:latin typeface="Aptos"/>
              </a:defRPr>
            </a:pPr>
            <a:r>
              <a:t>Core Gym Data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Member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Trainer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MembershipPlan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Subscription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Payment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Attendance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243584"/>
            <a:ext cx="2880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243584"/>
            <a:ext cx="73152" cy="4526280"/>
          </a:xfrm>
          <a:prstGeom prst="rect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353312"/>
            <a:ext cx="2587752" cy="436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639"/>
                </a:solidFill>
                <a:latin typeface="Aptos"/>
              </a:defRPr>
            </a:pPr>
            <a:r>
              <a:t>Mobile &amp; Security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MobileAccount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MobileDeviceToken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MobilePasswordReset</a:t>
            </a:r>
          </a:p>
          <a:p>
            <a:pPr>
              <a:spcBef>
                <a:spcPts val="400"/>
              </a:spcBef>
              <a:defRPr sz="1050">
                <a:solidFill>
                  <a:srgbClr val="242D3A"/>
                </a:solidFill>
                <a:latin typeface="Aptos"/>
              </a:defRPr>
            </a:pPr>
            <a:r>
              <a:t>AccessPasswordReset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3822191"/>
            <a:ext cx="1143000" cy="384048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3A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922776"/>
            <a:ext cx="101498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 b="1">
                <a:solidFill>
                  <a:srgbClr val="192639"/>
                </a:solidFill>
                <a:latin typeface="Aptos"/>
              </a:defRPr>
            </a:pPr>
            <a:r>
              <a:t>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822191"/>
            <a:ext cx="1143000" cy="384048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189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922776"/>
            <a:ext cx="101498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 b="1">
                <a:solidFill>
                  <a:srgbClr val="192639"/>
                </a:solidFill>
                <a:latin typeface="Aptos"/>
              </a:defRPr>
            </a:pPr>
            <a:r>
              <a:t>Member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4599431"/>
            <a:ext cx="1143000" cy="384048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F1B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700016"/>
            <a:ext cx="101498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 b="1">
                <a:solidFill>
                  <a:srgbClr val="192639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599431"/>
            <a:ext cx="1325880" cy="384048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76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700016"/>
            <a:ext cx="11978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 b="1">
                <a:solidFill>
                  <a:srgbClr val="192639"/>
                </a:solidFill>
                <a:latin typeface="Aptos"/>
              </a:defRPr>
            </a:pPr>
            <a:r>
              <a:t>Subscription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5358383"/>
            <a:ext cx="1143000" cy="384048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E05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5458968"/>
            <a:ext cx="101498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0" b="1">
                <a:solidFill>
                  <a:srgbClr val="192639"/>
                </a:solidFill>
                <a:latin typeface="Aptos"/>
              </a:defRPr>
            </a:pPr>
            <a:r>
              <a:t>Payment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88152" y="4014215"/>
            <a:ext cx="292608" cy="0"/>
          </a:xfrm>
          <a:prstGeom prst="line">
            <a:avLst/>
          </a:prstGeom>
          <a:ln w="19050">
            <a:solidFill>
              <a:srgbClr val="3A7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47688" y="4206240"/>
            <a:ext cx="0" cy="393191"/>
          </a:xfrm>
          <a:prstGeom prst="line">
            <a:avLst/>
          </a:prstGeom>
          <a:ln w="19050">
            <a:solidFill>
              <a:srgbClr val="189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88152" y="4791455"/>
            <a:ext cx="292608" cy="0"/>
          </a:xfrm>
          <a:prstGeom prst="line">
            <a:avLst/>
          </a:prstGeom>
          <a:ln w="19050">
            <a:solidFill>
              <a:srgbClr val="F1B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647688" y="4983479"/>
            <a:ext cx="91440" cy="374904"/>
          </a:xfrm>
          <a:prstGeom prst="line">
            <a:avLst/>
          </a:prstGeom>
          <a:ln w="19050">
            <a:solidFill>
              <a:srgbClr val="76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5971032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897880"/>
            <a:ext cx="10378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42D3A"/>
                </a:solidFill>
                <a:latin typeface="Aptos"/>
              </a:defRPr>
            </a:pPr>
            <a:r>
              <a:t>Member: belongs to optional Trainer and owns subscriptions, payments, attendance, notifications, and one mobile account.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6181344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6108192"/>
            <a:ext cx="10378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42D3A"/>
                </a:solidFill>
                <a:latin typeface="Aptos"/>
              </a:defRPr>
            </a:pPr>
            <a:r>
              <a:t>Subscription: links Member + MembershipPlan and tracks status, expiry date, and payment status.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6391656"/>
            <a:ext cx="100584" cy="100584"/>
          </a:xfrm>
          <a:prstGeom prst="ellipse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6318504"/>
            <a:ext cx="10378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42D3A"/>
                </a:solidFill>
                <a:latin typeface="Aptos"/>
              </a:defRPr>
            </a:pPr>
            <a:r>
              <a:t>Payment: stores manual and online details including Waafi request, invoice, transaction, and raw response fields.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9180"/>
                </a:solidFill>
                <a:latin typeface="Aptos"/>
              </a:defRPr>
            </a:pPr>
            <a:r>
              <a:t>APPLICATION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639"/>
                </a:solidFill>
                <a:latin typeface="Aptos"/>
              </a:defRPr>
            </a:pPr>
            <a:r>
              <a:t>4. Functional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37080"/>
                </a:solidFill>
                <a:latin typeface="Aptos"/>
              </a:defRPr>
            </a:pPr>
            <a:r>
              <a:t>Gym Management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3152" cy="82296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08176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Dashboard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KPIs, recent members, payments, expiring subscriptions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98448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298448"/>
            <a:ext cx="73152" cy="822960"/>
          </a:xfrm>
          <a:prstGeom prst="rect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408176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Members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CRUD, profile details, status, trainer assignment,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298448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298448"/>
            <a:ext cx="73152" cy="822960"/>
          </a:xfrm>
          <a:prstGeom prst="rect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08176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Trainers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CRUD, specialty, availability, active/inactive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68880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468880"/>
            <a:ext cx="73152" cy="822960"/>
          </a:xfrm>
          <a:prstGeom prst="rect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578608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Plans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Duration, price, type, description, active/inactive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2468880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2468880"/>
            <a:ext cx="73152" cy="822960"/>
          </a:xfrm>
          <a:prstGeom prst="rect">
            <a:avLst/>
          </a:prstGeom>
          <a:solidFill>
            <a:srgbClr val="7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578608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Subscriptions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Member plan lifecycle, expiry, payment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2468880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2752" y="2468880"/>
            <a:ext cx="73152" cy="822960"/>
          </a:xfrm>
          <a:prstGeom prst="rect">
            <a:avLst/>
          </a:prstGeom>
          <a:solidFill>
            <a:srgbClr val="3B9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2578608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Payments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Manual payments, WaafiPay initiation/status, receipts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39312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639312"/>
            <a:ext cx="73152" cy="822960"/>
          </a:xfrm>
          <a:prstGeom prst="rect">
            <a:avLst/>
          </a:prstGeom>
          <a:solidFill>
            <a:srgbClr val="18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749039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Attendance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Manual check-in, history, filters, 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639312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3639312"/>
            <a:ext cx="73152" cy="822960"/>
          </a:xfrm>
          <a:prstGeom prst="rect">
            <a:avLst/>
          </a:prstGeom>
          <a:solidFill>
            <a:srgbClr val="3A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3749039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Notifications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Announcements, reminders, Firebase push, read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639312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2752" y="3639312"/>
            <a:ext cx="73152" cy="822960"/>
          </a:xfrm>
          <a:prstGeom prst="rect">
            <a:avLst/>
          </a:prstGeom>
          <a:solidFill>
            <a:srgbClr val="F1B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749039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Reports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Members, subscriptions, payments, attendance, revenue exports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809744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809744"/>
            <a:ext cx="73152" cy="822960"/>
          </a:xfrm>
          <a:prstGeom prst="rect">
            <a:avLst/>
          </a:prstGeom>
          <a:solidFill>
            <a:srgbClr val="E0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9194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Access Control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Users, roles, permissions, activity logs, protected APIs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59" y="4809744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59" y="4809744"/>
            <a:ext cx="73152" cy="822960"/>
          </a:xfrm>
          <a:prstGeom prst="rect">
            <a:avLst/>
          </a:prstGeom>
          <a:solidFill>
            <a:srgbClr val="7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1" y="49194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Settings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Branding, theme, email, Firebase, Waafi configuration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4809744"/>
            <a:ext cx="345643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02752" y="4809744"/>
            <a:ext cx="73152" cy="822960"/>
          </a:xfrm>
          <a:prstGeom prst="rect">
            <a:avLst/>
          </a:prstGeom>
          <a:solidFill>
            <a:srgbClr val="3B9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49194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 b="1">
                <a:solidFill>
                  <a:srgbClr val="192639"/>
                </a:solidFill>
                <a:latin typeface="Aptos"/>
              </a:defRPr>
            </a:pPr>
            <a:r>
              <a:t>Mobile APIs</a:t>
            </a:r>
          </a:p>
          <a:p>
            <a:pPr>
              <a:spcBef>
                <a:spcPts val="400"/>
              </a:spcBef>
              <a:defRPr sz="840">
                <a:solidFill>
                  <a:srgbClr val="242D3A"/>
                </a:solidFill>
                <a:latin typeface="Aptos"/>
              </a:defRPr>
            </a:pPr>
            <a:r>
              <a:t>Login, dashboard, plans, subscription, payment, alerts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6172200"/>
            <a:ext cx="10881360" cy="347472"/>
          </a:xfrm>
          <a:prstGeom prst="rect">
            <a:avLst/>
          </a:prstGeom>
          <a:solidFill>
            <a:srgbClr val="1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6254496"/>
            <a:ext cx="10469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Result: one protected admin platform for operations, finance, access control, reporting, and member mobile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Management System Overview</dc:title>
  <dc:subject>Short PPT: workflow, tech stack, database design, modules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